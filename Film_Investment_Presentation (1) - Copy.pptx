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38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274320"/>
            <a:ext cx="1371600" cy="1371600"/>
          </a:xfrm>
          <a:prstGeom prst="ellipse">
            <a:avLst/>
          </a:prstGeom>
          <a:solidFill>
            <a:srgbClr val="4A9EDB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" y="1234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INVESTMENT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92608" y="19202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92608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Early-Stage Investment Analysis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92608" y="46817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Tarek ElNaggar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4681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Lunim  </a:t>
            </a:r>
            <a:r>
              <a:rPr lang="en-US" sz="12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2608" y="33375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304288" y="33375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04288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15968" y="33375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Dataset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27648" y="33375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7648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actually happened.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120640" cy="3246120"/>
          </a:xfrm>
          <a:prstGeom prst="rect">
            <a:avLst/>
          </a:prstGeom>
          <a:solidFill>
            <a:srgbClr val="1E2A3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12064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Paranormal Activity — 2007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first-time director. A home camera. Zero studio backing.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4754880" cy="34747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848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20240" y="2084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4754880" cy="34747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054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20240" y="2505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$193,000,000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4754880" cy="34747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12,866x Return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46704"/>
            <a:ext cx="4754880" cy="34747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467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20240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4754880" cy="347472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67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920240" y="3767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— Word of Mouth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1696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investors passed. The few who backed it changed their careers.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115568"/>
            <a:ext cx="3246120" cy="324612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1115568"/>
            <a:ext cx="324612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1234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Investor Faced: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17373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Would you invest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$15,000 in an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unknown Horror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film with zero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 support?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669280" y="3291840"/>
            <a:ext cx="1417320" cy="594360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(Evidence)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69480" y="3291840"/>
            <a:ext cx="1417320" cy="594360"/>
          </a:xfrm>
          <a:prstGeom prst="rect">
            <a:avLst/>
          </a:prstGeom>
          <a:solidFill>
            <a:srgbClr val="3A1A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(Gut Feeling)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40050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model scores this film: 94% success probability.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553712"/>
            <a:ext cx="8503920" cy="438912"/>
          </a:xfrm>
          <a:prstGeom prst="rect">
            <a:avLst/>
          </a:prstGeom>
          <a:solidFill>
            <a:srgbClr val="1A233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decision our system is built to support — with data, not guesswork.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PART 1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Investment Environment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91440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8183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TV investors at early and mid-stage evaluation face significant decision friction within an opaque investment lifecycle — with no unified intelligence layer to guide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206240" cy="1298448"/>
          </a:xfrm>
          <a:prstGeom prst="rect">
            <a:avLst/>
          </a:prstGeom>
          <a:solidFill>
            <a:srgbClr val="1E2A3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91440" cy="1298448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03911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1832" y="1984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Market Signals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41832" y="23317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office, streaming performance, genre &amp; format trends are scattered across multiple disconnected sources — no single view exists.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874520"/>
            <a:ext cx="4206240" cy="1298448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874520"/>
            <a:ext cx="91440" cy="1298448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03911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30952" y="1984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Community Data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330952" y="23317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creator &amp; audience sentiment from communities like TABB is qualitative and difficult to translate into measurable risk indicators.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3319272"/>
            <a:ext cx="4206240" cy="1298448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319272"/>
            <a:ext cx="91440" cy="1298448"/>
          </a:xfrm>
          <a:prstGeom prst="rect">
            <a:avLst/>
          </a:prstGeom>
          <a:solidFill>
            <a:srgbClr val="4A9ED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48386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832" y="3429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Without Intelligence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41832" y="377647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show data but don't explain what changed, why it matters now, or how it should influence an investment decision.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3319272"/>
            <a:ext cx="4206240" cy="1298448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319272"/>
            <a:ext cx="91440" cy="129844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48386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30952" y="3429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Post-Investment Clarity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330952" y="377647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Hollywood accounting practices create post-deployment opacity — inflated costs and opaque reporting make true profitability hard to verify.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20040" y="470001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Film &amp; TV-specific intelligence layer exists within Lunim to translate these signals into decision-ready insights.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PART 2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 Cost for Investors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1024128"/>
          </a:xfrm>
          <a:prstGeom prst="rect">
            <a:avLst/>
          </a:prstGeom>
          <a:solidFill>
            <a:srgbClr val="1E2A3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91440" cy="10241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408176"/>
            <a:ext cx="384048" cy="38404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426464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1207008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on Manual Synthesis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44752" y="1591056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spend excessive hours manually combining reports, articles, dashboards, and community signals — with no guarantee of completeness or accuracy.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2286000"/>
            <a:ext cx="8503920" cy="1024128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286000"/>
            <a:ext cx="91440" cy="10241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" y="2578608"/>
            <a:ext cx="384048" cy="38404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596896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44752" y="2377440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Risk Signals Missed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44752" y="276148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momentum or risk signals are identified too late — or missed entirely — because no system connects fragmented data in real time.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" y="3456432"/>
            <a:ext cx="8503920" cy="1024128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456432"/>
            <a:ext cx="91440" cy="102412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" y="3749040"/>
            <a:ext cx="384048" cy="384048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76732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44752" y="3547872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Over Evidence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444752" y="3931920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decisions at early and mid-stages rely heavily on gut feeling rather than structured, evidence-backed intelligence.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3D0A0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4636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Film &amp; TV intelligence layer in Lunim to bridge fragmented signals and lifecycle-aware investment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AI-first intelligence system that transforms fragmented Film &amp; TV market data into decision-ready insights for investors.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743200" cy="2423160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31720"/>
            <a:ext cx="2743200" cy="91440"/>
          </a:xfrm>
          <a:prstGeom prst="rect">
            <a:avLst/>
          </a:prstGeom>
          <a:solidFill>
            <a:srgbClr val="4A9ED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8716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Uncertainty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in early-stage investment decisions with evidence-backed signals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331720"/>
            <a:ext cx="2743200" cy="242316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331720"/>
            <a:ext cx="2743200" cy="914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48716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Signals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community sentiment and market data into actionable recommendations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2331720"/>
            <a:ext cx="2743200" cy="2423160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2331720"/>
            <a:ext cx="2743200" cy="91440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48716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8076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Intelligence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reusable, demo-ready assets aligned with Lunim programmes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Project Achieves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91440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1556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152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Investment Signals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444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3 core early-stage signals relevant to Film &amp; TV investors with clear 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83664"/>
            <a:ext cx="85039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83664"/>
            <a:ext cx="91440" cy="658368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8836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Clean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validate and prepare TMDB dataset of 3,229 films for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85039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51760"/>
            <a:ext cx="91440" cy="6583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6517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2688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9809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patterns in genre, budget, season and audience that drive investment success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19856"/>
            <a:ext cx="85039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19856"/>
            <a:ext cx="91440" cy="6583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4198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456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ML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749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classification model to predict investment success with 75%+ accuracy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87952"/>
            <a:ext cx="91440" cy="6583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41879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43000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Intelligence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5171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insights into investor-ready briefs, dashboard and web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· Measurable · Achievable · Relevant · Time-bound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676656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408176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Film &amp; TV project is a worthy investment using structured ML classification based on budget, genre, audience &amp; season signals.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8503920" cy="676656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956816"/>
            <a:ext cx="457200" cy="457200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9019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70%+ model accuracy and AUC ≥ 0.80 on a validated test set of 646 films — confirmed at 75.4% accuracy / AUC 0.826.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8503920" cy="676656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72491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6700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944368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using freely available TMDB data, open-source Python libraries, and part-time sprints — no paid data sources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8503920" cy="676656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49300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4381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712464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early-stage investment friction identified in the Lunim Epic, targeting pre-investment evaluation and greenlighting.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51376"/>
            <a:ext cx="8503920" cy="676656"/>
          </a:xfrm>
          <a:prstGeom prst="rect">
            <a:avLst/>
          </a:prstGeom>
          <a:solidFill>
            <a:srgbClr val="1E2A3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4261104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4206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480560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EDA by end of Sprint 2, ML model by Sprint 3, and full demo-ready delivery within the 3-sprint project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Description, Cleaning &amp;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E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4,803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201168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3,229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201168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6916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143000"/>
            <a:ext cx="2011680" cy="914400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2194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4251960" cy="29260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78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25786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(USD)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4251960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07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2907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buzz 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236976"/>
            <a:ext cx="4251960" cy="29260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369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vote_average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2369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rating (1-10)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66160"/>
            <a:ext cx="4251960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66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vote_count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votes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895344"/>
            <a:ext cx="4251960" cy="29260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895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3895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duration (mins)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224528"/>
            <a:ext cx="4251960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2245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primary_genre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20240" y="4224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film category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553712"/>
            <a:ext cx="4251960" cy="29260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553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920240" y="4553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window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2615184"/>
            <a:ext cx="274320" cy="274320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4920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films with budget &amp; revenue = 0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709160" y="2999232"/>
            <a:ext cx="274320" cy="274320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2962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ROI = revenue / budget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09160" y="3383280"/>
            <a:ext cx="274320" cy="274320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74920" y="3346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binary target: ROI ≥ 2x = Invest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09160" y="3767328"/>
            <a:ext cx="274320" cy="274320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74920" y="3730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release year, month &amp; season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709160" y="4151376"/>
            <a:ext cx="274320" cy="274320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53" name="Text 51"/>
          <p:cNvSpPr/>
          <p:nvPr/>
        </p:nvSpPr>
        <p:spPr>
          <a:xfrm>
            <a:off x="470916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74920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genres JSON → primary_genre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709160" y="4535424"/>
            <a:ext cx="274320" cy="274320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56" name="Text 54"/>
          <p:cNvSpPr/>
          <p:nvPr/>
        </p:nvSpPr>
        <p:spPr>
          <a:xfrm>
            <a:off x="4709160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74920" y="4498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encoded categorical variables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Dealing With Missing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38404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1155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115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Missing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1115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1115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8503920" cy="420624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508760"/>
            <a:ext cx="54864" cy="42062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50876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5087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5087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not relevant to analysis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15087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984248"/>
            <a:ext cx="8503920" cy="420624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1984248"/>
            <a:ext cx="54864" cy="42062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9842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198424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19842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not a predictive feature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1984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459736"/>
            <a:ext cx="8503920" cy="420624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459736"/>
            <a:ext cx="54864" cy="42062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4597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24597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24597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86200" y="24597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3 rows — negligible loss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24597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2935224"/>
            <a:ext cx="8503920" cy="420624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2935224"/>
            <a:ext cx="54864" cy="42062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93522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293522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29352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86200" y="2935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2 rows — negligible loss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89520" y="29352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3410712"/>
            <a:ext cx="8503920" cy="420624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0" name="Shape 38"/>
          <p:cNvSpPr/>
          <p:nvPr/>
        </p:nvSpPr>
        <p:spPr>
          <a:xfrm>
            <a:off x="320040" y="3410712"/>
            <a:ext cx="54864" cy="42062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41071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release_date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737360" y="341071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834640" y="34107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86200" y="34107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1 row — negligible loss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89520" y="34107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3886200"/>
            <a:ext cx="8503920" cy="420624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7" name="Shape 45"/>
          <p:cNvSpPr/>
          <p:nvPr/>
        </p:nvSpPr>
        <p:spPr>
          <a:xfrm>
            <a:off x="320040" y="3886200"/>
            <a:ext cx="54864" cy="420624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38862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budget/revenue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737360" y="38862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834640" y="38862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86200" y="38862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kept only budget &amp; revenue &gt; 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589520" y="38862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3,229 films retained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Final clean dataset: 3,229 films  |  No imputation needed  |  Data integrity: High  |  Ready for EDA &amp; ML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—  PART 1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from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Investment Success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vote_count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581912"/>
            <a:ext cx="2748686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851806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208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2093976"/>
            <a:ext cx="2271370" cy="22860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1" name="Text 9"/>
          <p:cNvSpPr/>
          <p:nvPr/>
        </p:nvSpPr>
        <p:spPr>
          <a:xfrm>
            <a:off x="4374490" y="20208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532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vote_average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2606040"/>
            <a:ext cx="2180844" cy="2286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4283964" y="2532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044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57400" y="3118104"/>
            <a:ext cx="403250" cy="22860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7" name="Text 15"/>
          <p:cNvSpPr/>
          <p:nvPr/>
        </p:nvSpPr>
        <p:spPr>
          <a:xfrm>
            <a:off x="2506370" y="30449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557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57400" y="3630168"/>
            <a:ext cx="238658" cy="22860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0" name="Text 18"/>
          <p:cNvSpPr/>
          <p:nvPr/>
        </p:nvSpPr>
        <p:spPr>
          <a:xfrm>
            <a:off x="2341778" y="35570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Genre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6208" y="1581912"/>
            <a:ext cx="2176272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8467344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1984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6208" y="2057400"/>
            <a:ext cx="2016252" cy="22860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27" name="Text 25"/>
          <p:cNvSpPr/>
          <p:nvPr/>
        </p:nvSpPr>
        <p:spPr>
          <a:xfrm>
            <a:off x="8307324" y="1984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24597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36208" y="2532888"/>
            <a:ext cx="1952244" cy="22860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30" name="Text 28"/>
          <p:cNvSpPr/>
          <p:nvPr/>
        </p:nvSpPr>
        <p:spPr>
          <a:xfrm>
            <a:off x="8243316" y="2459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29352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36208" y="3008376"/>
            <a:ext cx="1856232" cy="2286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Text 31"/>
          <p:cNvSpPr/>
          <p:nvPr/>
        </p:nvSpPr>
        <p:spPr>
          <a:xfrm>
            <a:off x="8147304" y="29352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34107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36208" y="3483864"/>
            <a:ext cx="1824228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6" name="Text 34"/>
          <p:cNvSpPr/>
          <p:nvPr/>
        </p:nvSpPr>
        <p:spPr>
          <a:xfrm>
            <a:off x="8115300" y="3410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3776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36208" y="3959352"/>
            <a:ext cx="1664208" cy="22860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0" y="3886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0" y="43616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36208" y="4434840"/>
            <a:ext cx="1600200" cy="22860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42" name="Text 40"/>
          <p:cNvSpPr/>
          <p:nvPr/>
        </p:nvSpPr>
        <p:spPr>
          <a:xfrm>
            <a:off x="7891272" y="4361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Insight: Audience engagement (vote_count) is 19x more predictive than budget alone. Horror films lead all genres in ROI success.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—  PART 2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Season &amp; Budget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Release Season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44598"/>
            <a:ext cx="804672" cy="124724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697126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33756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n=591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36192" y="2104949"/>
            <a:ext cx="804672" cy="1186891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1" name="Text 9"/>
          <p:cNvSpPr/>
          <p:nvPr/>
        </p:nvSpPr>
        <p:spPr>
          <a:xfrm>
            <a:off x="1399032" y="1757477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E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99032" y="333756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99032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n=837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15184" y="2185416"/>
            <a:ext cx="804672" cy="110642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2478024" y="1837944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78024" y="333756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78024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n=704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94176" y="2245766"/>
            <a:ext cx="804672" cy="104607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9" name="Text 17"/>
          <p:cNvSpPr/>
          <p:nvPr/>
        </p:nvSpPr>
        <p:spPr>
          <a:xfrm>
            <a:off x="3557016" y="1898294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99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57016" y="333756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Off-Season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57016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n=1097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165299"/>
            <a:ext cx="429768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474720" y="1890979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avg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Success by Budget Tier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536192"/>
            <a:ext cx="411480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536192"/>
            <a:ext cx="73152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Shape 25"/>
          <p:cNvSpPr/>
          <p:nvPr/>
        </p:nvSpPr>
        <p:spPr>
          <a:xfrm>
            <a:off x="4983480" y="1682496"/>
            <a:ext cx="1450238" cy="237744"/>
          </a:xfrm>
          <a:prstGeom prst="rect">
            <a:avLst/>
          </a:prstGeom>
          <a:solidFill>
            <a:srgbClr val="2ECC71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15910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&lt;$10M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25158" y="16276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16459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4.8x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176272"/>
            <a:ext cx="411480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176272"/>
            <a:ext cx="73152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Shape 31"/>
          <p:cNvSpPr/>
          <p:nvPr/>
        </p:nvSpPr>
        <p:spPr>
          <a:xfrm>
            <a:off x="4983480" y="2322576"/>
            <a:ext cx="1378915" cy="237744"/>
          </a:xfrm>
          <a:prstGeom prst="rect">
            <a:avLst/>
          </a:prstGeom>
          <a:solidFill>
            <a:srgbClr val="2ECC71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231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$10-30M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53835" y="22677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38160" y="2286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3.2x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816352"/>
            <a:ext cx="411480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2816352"/>
            <a:ext cx="73152" cy="530352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39" name="Shape 37"/>
          <p:cNvSpPr/>
          <p:nvPr/>
        </p:nvSpPr>
        <p:spPr>
          <a:xfrm>
            <a:off x="4983480" y="2962656"/>
            <a:ext cx="1355141" cy="237744"/>
          </a:xfrm>
          <a:prstGeom prst="rect">
            <a:avLst/>
          </a:prstGeom>
          <a:solidFill>
            <a:srgbClr val="4A9EDB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$30-80M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30061" y="29077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38160" y="2926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2.7x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456432"/>
            <a:ext cx="411480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3456432"/>
            <a:ext cx="73152" cy="5303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5" name="Shape 43"/>
          <p:cNvSpPr/>
          <p:nvPr/>
        </p:nvSpPr>
        <p:spPr>
          <a:xfrm>
            <a:off x="4983480" y="3602736"/>
            <a:ext cx="1283818" cy="237744"/>
          </a:xfrm>
          <a:prstGeom prst="rect">
            <a:avLst/>
          </a:prstGeom>
          <a:solidFill>
            <a:srgbClr val="F39C12">
              <a:alpha val="7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511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$80-150M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8738" y="35478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38160" y="35661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2.1x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096512"/>
            <a:ext cx="411480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4096512"/>
            <a:ext cx="73152" cy="5303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1" name="Shape 49"/>
          <p:cNvSpPr/>
          <p:nvPr/>
        </p:nvSpPr>
        <p:spPr>
          <a:xfrm>
            <a:off x="4983480" y="4242816"/>
            <a:ext cx="1141171" cy="237744"/>
          </a:xfrm>
          <a:prstGeom prst="rect">
            <a:avLst/>
          </a:prstGeom>
          <a:solidFill>
            <a:srgbClr val="E74C3C">
              <a:alpha val="7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983480" y="41513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Block. &gt;$150M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6091" y="41879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38160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1.6x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Insight: Holiday releases outperform all seasons. Micro-budget films ($&lt;10M) generate highest ROI — blockbusters underperform expectations.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 &amp; Investor Value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Core Investment Signals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74320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27432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vote_count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56.7%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audience = proven demand. Highest predictor of investment success.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481328"/>
            <a:ext cx="274320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81328"/>
            <a:ext cx="2743200" cy="91440"/>
          </a:xfrm>
          <a:prstGeom prst="rect">
            <a:avLst/>
          </a:prstGeom>
          <a:solidFill>
            <a:srgbClr val="4A9EDB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Budget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23.9%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880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budget + strong audience = best ROI opportunity for investors.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481328"/>
            <a:ext cx="274320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81328"/>
            <a:ext cx="274320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Momentum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5.5%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2880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buzz predicts audience turnout and market reach.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675888"/>
            <a:ext cx="8503920" cy="123444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Helps Investors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Reduces research time from days to minutes   ✓ Surfaces early risk &amp; momentum signals   ✓ Replaces intuition with evidence-backed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Coming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29968" cy="475488"/>
          </a:xfrm>
          <a:prstGeom prst="rect">
            <a:avLst/>
          </a:prstGeom>
          <a:solidFill>
            <a:srgbClr val="2ECC7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EDA Complete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380744"/>
            <a:ext cx="146304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91640"/>
            <a:ext cx="2029968" cy="3017520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92024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3,229 films analyzed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2615184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237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EDA visualizations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310128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18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investment signals defined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4005072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913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ready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50592" y="1143000"/>
            <a:ext cx="2029968" cy="475488"/>
          </a:xfrm>
          <a:prstGeom prst="rect">
            <a:avLst/>
          </a:prstGeom>
          <a:solidFill>
            <a:srgbClr val="4A9ED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50592" y="114300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ML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1380744"/>
            <a:ext cx="146304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691640"/>
            <a:ext cx="2029968" cy="3017520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0" y="1920240"/>
            <a:ext cx="201168" cy="201168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 model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2615184"/>
            <a:ext cx="201168" cy="201168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5237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75%+ accuracy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0" y="3310128"/>
            <a:ext cx="201168" cy="201168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3218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4005072"/>
            <a:ext cx="201168" cy="201168"/>
          </a:xfrm>
          <a:prstGeom prst="ellipse">
            <a:avLst/>
          </a:prstGeom>
          <a:solidFill>
            <a:srgbClr val="4A9EDB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913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 tool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26864" y="1143000"/>
            <a:ext cx="2029968" cy="475488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26864" y="114300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Streamlit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56832" y="1380744"/>
            <a:ext cx="146304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1691640"/>
            <a:ext cx="2029968" cy="301752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1920240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36592" y="2615184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5010912" y="25237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36592" y="3310128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5010912" y="3218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investor can use 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36592" y="4005072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3913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film details → get decision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03136" y="1143000"/>
            <a:ext cx="2029968" cy="475488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03136" y="114300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Power BI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03136" y="1691640"/>
            <a:ext cx="2029968" cy="3017520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12864" y="1920240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5" name="Text 43"/>
          <p:cNvSpPr/>
          <p:nvPr/>
        </p:nvSpPr>
        <p:spPr>
          <a:xfrm>
            <a:off x="7187184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investment dashboard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12864" y="2615184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7" name="Text 45"/>
          <p:cNvSpPr/>
          <p:nvPr/>
        </p:nvSpPr>
        <p:spPr>
          <a:xfrm>
            <a:off x="7187184" y="25237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report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12864" y="3310128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49" name="Text 47"/>
          <p:cNvSpPr/>
          <p:nvPr/>
        </p:nvSpPr>
        <p:spPr>
          <a:xfrm>
            <a:off x="7187184" y="3218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season filters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12864" y="4005072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51" name="Text 49"/>
          <p:cNvSpPr/>
          <p:nvPr/>
        </p:nvSpPr>
        <p:spPr>
          <a:xfrm>
            <a:off x="7187184" y="3913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analysis view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complete AI-powered Film Investment platform accessible to any investor — no technical knowledge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We've Proven So Far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4A9E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91440" cy="1508760"/>
          </a:xfrm>
          <a:prstGeom prst="rect">
            <a:avLst/>
          </a:prstGeom>
          <a:solidFill>
            <a:srgbClr val="4A9ED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353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Ready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69848" y="17647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3,229 clean films with validated investment signals — ready for 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170432"/>
            <a:ext cx="420624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170432"/>
            <a:ext cx="91440" cy="150876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1353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Clear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58968" y="17647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size, not budget, is the #1 predictor of investment success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862072"/>
            <a:ext cx="420624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862072"/>
            <a:ext cx="91440" cy="1508760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63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3044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Season Matter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69848" y="34564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films + Holiday releases = optimal investment combination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09160" y="2862072"/>
            <a:ext cx="420624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862072"/>
            <a:ext cx="91440" cy="150876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632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58968" y="3044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is Clear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58968" y="34564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complete — ML model build starts in Sprint 3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investment decisions don't have to be a gamble — AI makes them a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A9ED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Investment Intelligence  |  Powered by Lunim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Tarek ElNaggar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90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1411</Words>
  <Application>Microsoft Office PowerPoint</Application>
  <PresentationFormat>On-screen Show (16:9)</PresentationFormat>
  <Paragraphs>315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Film Investment Intelligence</dc:title>
  <dc:subject>PptxGenJS Presentation</dc:subject>
  <dc:creator>Tarek ElNaggar</dc:creator>
  <cp:lastModifiedBy>Tariq Elnaggar</cp:lastModifiedBy>
  <cp:revision>2</cp:revision>
  <dcterms:created xsi:type="dcterms:W3CDTF">2026-03-10T13:45:35Z</dcterms:created>
  <dcterms:modified xsi:type="dcterms:W3CDTF">2026-03-11T10:44:04Z</dcterms:modified>
</cp:coreProperties>
</file>